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443b3021e4c6b" /><Relationship Type="http://schemas.openxmlformats.org/officeDocument/2006/relationships/extended-properties" Target="/docProps/app.xml" Id="R62faf72e0af14ec4" /><Relationship Type="http://schemas.openxmlformats.org/officeDocument/2006/relationships/officeDocument" Target="/ppt/presentation.xml" Id="R7c071ca52f6c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dbd2931e44f6f"/>
  </p:sldMasterIdLst>
  <p:notesMasterIdLst>
    <p:notesMasterId xmlns:r="http://schemas.openxmlformats.org/officeDocument/2006/relationships" r:id="Re75b3098cbc14dbe"/>
  </p:notesMasterIdLst>
  <p:sldIdLst>
    <p:sldId xmlns:r="http://schemas.openxmlformats.org/officeDocument/2006/relationships" id="256" r:id="R3e5108697e4c4208"/>
    <p:sldId xmlns:r="http://schemas.openxmlformats.org/officeDocument/2006/relationships" id="257" r:id="R1f21d5fcb04d4a52"/>
    <p:sldId xmlns:r="http://schemas.openxmlformats.org/officeDocument/2006/relationships" id="258" r:id="R9b85c95263a14efb"/>
    <p:sldId xmlns:r="http://schemas.openxmlformats.org/officeDocument/2006/relationships" id="259" r:id="R02fdc05bdc5a4e3e"/>
    <p:sldId xmlns:r="http://schemas.openxmlformats.org/officeDocument/2006/relationships" id="260" r:id="R502a73715fe84073"/>
    <p:sldId xmlns:r="http://schemas.openxmlformats.org/officeDocument/2006/relationships" id="261" r:id="Rce960fdaa28f4ec7"/>
    <p:sldId xmlns:r="http://schemas.openxmlformats.org/officeDocument/2006/relationships" id="262" r:id="R3b5302e7e8fe4444"/>
    <p:sldId xmlns:r="http://schemas.openxmlformats.org/officeDocument/2006/relationships" id="263" r:id="R74f1008fffa84485"/>
    <p:sldId xmlns:r="http://schemas.openxmlformats.org/officeDocument/2006/relationships" id="264" r:id="Re91a045301a642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dbd2931e44f6f" /><Relationship Type="http://schemas.openxmlformats.org/officeDocument/2006/relationships/theme" Target="/ppt/theme/theme1.xml" Id="Rf31a6c4ed5d344a5" /><Relationship Type="http://schemas.openxmlformats.org/officeDocument/2006/relationships/notesMaster" Target="/ppt/notesMasters/notesMaster1.xml" Id="Re75b3098cbc14dbe" /><Relationship Type="http://schemas.openxmlformats.org/officeDocument/2006/relationships/presProps" Target="/ppt/presProps.xml" Id="R11b54998096c4046" /><Relationship Type="http://schemas.openxmlformats.org/officeDocument/2006/relationships/viewProps" Target="/ppt/viewProps.xml" Id="Ra5c7ee40af2d478b" /><Relationship Type="http://schemas.openxmlformats.org/officeDocument/2006/relationships/tableStyles" Target="/ppt/tableStyles.xml" Id="R3fc6237fa60b448f" /><Relationship Type="http://schemas.openxmlformats.org/officeDocument/2006/relationships/slide" Target="/ppt/slides/slide1.xml" Id="R3e5108697e4c4208" /><Relationship Type="http://schemas.openxmlformats.org/officeDocument/2006/relationships/slide" Target="/ppt/slides/slide2.xml" Id="R1f21d5fcb04d4a52" /><Relationship Type="http://schemas.openxmlformats.org/officeDocument/2006/relationships/slide" Target="/ppt/slides/slide3.xml" Id="R9b85c95263a14efb" /><Relationship Type="http://schemas.openxmlformats.org/officeDocument/2006/relationships/slide" Target="/ppt/slides/slide4.xml" Id="R02fdc05bdc5a4e3e" /><Relationship Type="http://schemas.openxmlformats.org/officeDocument/2006/relationships/slide" Target="/ppt/slides/slide5.xml" Id="R502a73715fe84073" /><Relationship Type="http://schemas.openxmlformats.org/officeDocument/2006/relationships/slide" Target="/ppt/slides/slide6.xml" Id="Rce960fdaa28f4ec7" /><Relationship Type="http://schemas.openxmlformats.org/officeDocument/2006/relationships/slide" Target="/ppt/slides/slide7.xml" Id="R3b5302e7e8fe4444" /><Relationship Type="http://schemas.openxmlformats.org/officeDocument/2006/relationships/slide" Target="/ppt/slides/slide8.xml" Id="R74f1008fffa84485" /><Relationship Type="http://schemas.openxmlformats.org/officeDocument/2006/relationships/slide" Target="/ppt/slides/slide9.xml" Id="Re91a045301a6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d71c41f9a1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7cb643196483e" /><Relationship Type="http://schemas.openxmlformats.org/officeDocument/2006/relationships/notesMaster" Target="/ppt/notesMasters/notesMaster1.xml" Id="R098010f1e8604e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97ace09cd472b" /><Relationship Type="http://schemas.openxmlformats.org/officeDocument/2006/relationships/notesMaster" Target="/ppt/notesMasters/notesMaster1.xml" Id="Rf007d37ad19841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ae8df7331e48bf" /><Relationship Type="http://schemas.openxmlformats.org/officeDocument/2006/relationships/notesMaster" Target="/ppt/notesMasters/notesMaster1.xml" Id="Rfeae80b0264341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f5627b9de045b7" /><Relationship Type="http://schemas.openxmlformats.org/officeDocument/2006/relationships/notesMaster" Target="/ppt/notesMasters/notesMaster1.xml" Id="R3233d26c0ac146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b6831073f14c8e" /><Relationship Type="http://schemas.openxmlformats.org/officeDocument/2006/relationships/notesMaster" Target="/ppt/notesMasters/notesMaster1.xml" Id="Rb68134e3d39e4d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4b598b91f4adf" /><Relationship Type="http://schemas.openxmlformats.org/officeDocument/2006/relationships/notesMaster" Target="/ppt/notesMasters/notesMaster1.xml" Id="Rf5b71a0a9dd6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7fe30e98ed4943" /><Relationship Type="http://schemas.openxmlformats.org/officeDocument/2006/relationships/notesMaster" Target="/ppt/notesMasters/notesMaster1.xml" Id="R299c745d9335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b81edb09245c6" /><Relationship Type="http://schemas.openxmlformats.org/officeDocument/2006/relationships/notesMaster" Target="/ppt/notesMasters/notesMaster1.xml" Id="R034a93cf8461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ae6bb494f4cc7" /><Relationship Type="http://schemas.openxmlformats.org/officeDocument/2006/relationships/notesMaster" Target="/ppt/notesMasters/notesMaster1.xml" Id="R2c1e69dca12b44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08df176cc47f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68edbbaa3d4777" /><Relationship Type="http://schemas.openxmlformats.org/officeDocument/2006/relationships/slideLayout" Target="/ppt/slideLayouts/slideLayout2.xml" Id="Ra31a57c98777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a57c98777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fb0e38fb247c0" /><Relationship Type="http://schemas.openxmlformats.org/officeDocument/2006/relationships/notesSlide" Target="/ppt/notesSlides/notesSlide1.xml" Id="Rf879731d951c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e581de2974e4a" /><Relationship Type="http://schemas.openxmlformats.org/officeDocument/2006/relationships/notesSlide" Target="/ppt/notesSlides/notesSlide2.xml" Id="R4a888d44edfa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ada0144b84913" /><Relationship Type="http://schemas.openxmlformats.org/officeDocument/2006/relationships/notesSlide" Target="/ppt/notesSlides/notesSlide3.xml" Id="R45e007232e09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eaa0a6e614670" /><Relationship Type="http://schemas.openxmlformats.org/officeDocument/2006/relationships/notesSlide" Target="/ppt/notesSlides/notesSlide4.xml" Id="Re85e05412a2b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4b048c29284c31" /><Relationship Type="http://schemas.openxmlformats.org/officeDocument/2006/relationships/notesSlide" Target="/ppt/notesSlides/notesSlide5.xml" Id="Ra67e24534838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567c6fc0a450b" /><Relationship Type="http://schemas.openxmlformats.org/officeDocument/2006/relationships/notesSlide" Target="/ppt/notesSlides/notesSlide6.xml" Id="Rd3307075680449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8932299684ca1" /><Relationship Type="http://schemas.openxmlformats.org/officeDocument/2006/relationships/notesSlide" Target="/ppt/notesSlides/notesSlide7.xml" Id="R38244426cf67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f95c67ac7437e" /><Relationship Type="http://schemas.openxmlformats.org/officeDocument/2006/relationships/notesSlide" Target="/ppt/notesSlides/notesSlide8.xml" Id="R2ca9c7e4b9bb4a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4f2f93c594401f" /><Relationship Type="http://schemas.openxmlformats.org/officeDocument/2006/relationships/notesSlide" Target="/ppt/notesSlides/notesSlide9.xml" Id="R7fc48bb1a70c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9ED4C-FD2A-448C-8D7E-D2AA0A4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934C2-E3E2-45F1-A9E8-F66F818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D"/>
          </a:solidFill>
          <a:ln xmlns:a="http://schemas.openxmlformats.org/drawingml/2006/main" w="0">
            <a:solidFill>
              <a:srgbClr val="174D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16E84-3DE0-4BDF-B513-1A74DB0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169"/>
          </a:solidFill>
          <a:ln xmlns:a="http://schemas.openxmlformats.org/drawingml/2006/main" w="0">
            <a:solidFill>
              <a:srgbClr val="C8F1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9E5E9-56B8-40CE-B5FB-81FA4927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66850"/>
            <a:ext cx="33909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9AC2A-F6C7-4A57-9583-C51B438B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2552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2AE2C-BBCC-42BF-AE5A-F82C997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527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F60EC-3B7C-4348-BFFC-F1730DEE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324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5E8A3-2765-4394-BE7D-5CB5C2D3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F169"/>
                </a:solidFill>
                <a:latin typeface="Aptos"/>
                <a:ea typeface="Aptos"/>
                <a:cs typeface="Aptos"/>
              </a:defRPr>
            </a:pPr>
            <a:r>
              <a:t>Atividade OAT - Inteligência Artificial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510DF-5AF9-40F0-B1AF-2044520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571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7EA59-CC42-429E-9CD0-9DA5F87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81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CE3"/>
                </a:solidFill>
                <a:latin typeface="Aptos"/>
                <a:ea typeface="Aptos"/>
                <a:cs typeface="Aptos"/>
              </a:defRPr>
            </a:pPr>
            <a:r>
              <a:t>Verificação de fatos eleitorais com regras contextuais, Google Fact Check e classificador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94B89-B017-4E4A-A350-D3232AE0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React Native / Expo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8A1DE-3DEC-4AC7-BBF6-C43A371B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5945A-04DA-49A2-896F-CAD288A2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TF-IDF + 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60DED-DC9C-42B2-B223-FFDF00B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D2C7"/>
                </a:solidFill>
                <a:latin typeface="Aptos"/>
                <a:ea typeface="Aptos"/>
                <a:cs typeface="Aptos"/>
              </a:defRPr>
            </a:pPr>
            <a:r>
              <a:t>Entrega: interface, API, dataset, treinamento, consulta externa e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806463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05B05-A1BE-475C-964B-7B56B83E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1C9DD-0FE9-41CD-854A-65BBD3D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B7AB-9915-4658-8D46-DEF5E87F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02 /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8732-331A-4029-8612-05D5F27C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D4B0D-5F81-4E48-AFCD-BF0EF116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Desinformação eleitoral pede resposta rápida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E6B46-0251-4365-A60B-41773F3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 ferramenta organiza a verificação quando a pessoa tem uma afirmação e pouco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95EFB-8776-4E83-B02C-26905ED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257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1670A-3541-4158-9E33-C554B4C2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741C-F2C2-4FE9-92DB-2C3D3B8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Risco público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A93E0-35D0-422D-9183-7CEF442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838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Notícias falsas podem afetar percepção, voto e debate durante períodos eleitorais.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4B8F-4250-4480-8345-7AF1975E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257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BB643-18E4-4685-9FF4-75FE35D2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99228-1990-4135-8A1E-5FA9AC0D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Tempo curto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B3822-C7BF-44FE-A800-11F25DA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38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O usuário precisa de uma resposta rápida, com fonte, veredito e nível de confiança.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DFBA8-95B0-4DA8-8C36-F71FE4C4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257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E4437-5081-463C-A90F-A13F5FF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2077F-5E5B-41B0-9DFC-8087269F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Cobertura incompleta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8146F-2326-4A5E-8077-5916C4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838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Nem toda afirmação já possui uma checagem externa pronta ou equivalente.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15CA1-20D6-4C1F-A1BC-8B7F8E6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59811-5704-414A-9455-0D767150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911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3 rotas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04034-80E9-4983-8AF8-A33FC0D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Resultado esperado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B4250-4A10-45BB-B539-CFB265C3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regras, fonte externa ou modelo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6F0BC-1997-4FD0-AA4D-7F8B022E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577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967BC-54FC-4392-A2C2-62251FF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3 labels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D9C7E-E726-45A6-8E10-5B70959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48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Saída ao usuário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33F13-BE2F-4C9E-B2AB-718F8E3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15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Verdadeiro, Falso, Inconclusivo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D0F9F-6DAD-4538-B406-34EAF48A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E316D-7170-4CCE-BD0F-60D1709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911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t>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9E7F9-D0E0-40A4-8E8A-25C87F4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48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Registro 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D1008-9E3F-4039-A586-8DDF37F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15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consulta salva em runtime</a:t>
            </a:r>
          </a:p>
        </p:txBody>
      </p:sp>
    </p:spTree>
    <p:extLst>
      <p:ext uri="{BB962C8B-B14F-4D97-AF65-F5344CB8AC3E}">
        <p14:creationId xmlns:p14="http://schemas.microsoft.com/office/powerpoint/2010/main" val="562555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2F355-818D-49DE-8385-F83AEC5F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85B67-072C-431F-AE4C-68AF3872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0DB97-04F5-4495-BF46-D525384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03 / 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0D44-D35B-4FD2-9415-F0C1232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ARQUITETURA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5AFE1-154B-4EC9-ACD7-9D539B0B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Quatro componentes, um fluxo verificável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0D530-7AB3-482F-B7CF-32826D7C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O backend decide entre regra contextual, checagem externa e classificador local.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2C9CF-1C47-474B-BF0F-D308AB9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1B8F1-8720-4476-897F-9595C01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38702-48BD-44FA-8E1C-F9D1108E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6DB64-93B4-46DA-8339-4B12390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React Native / Expo envia afirmações para POST /verify.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3F8AB-5989-43C8-B72B-C4AF0327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74DCE-D88C-4CCD-B59A-ED529E7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962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C6155-70DF-4737-BF51-4858C7B2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B7361-1FF0-421F-A83E-DF48302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F7CCF-5287-443A-BC8B-3CCECCF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Orquestra regras, consulta externa, classificador e persistência.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7CE42-31E2-426B-9601-DD4B6FF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44BA9-93BF-42E1-BE53-37CBEC1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962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37B51-0391-4213-8CEB-5ACE5C1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D6DF9-6D17-4BDB-8C9B-912A9E73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Fontes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5A68B-8760-4755-87FD-778D28D6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Google Fact Check Tools API para checagens externas relevantes.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2C621-457B-4566-B3C5-98440BB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2DE0-6153-4675-8E6E-33CF3A2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962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FD5F3-F217-44BB-8EE3-C3E3E9E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15864-73B9-4BD3-8CA1-FDAC1FC5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Classificador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092A2-CD8A-4E36-B04A-3F3BCC7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TF-IDF + Logistic Regression quando não há regra ou checagem.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16CBF-4B34-42B6-9EF7-DC5EBB06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43400"/>
            <a:ext cx="678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3630D-48FD-44B7-83E4-506362D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Persistência local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A816D-A392-4124-8094-5DC3D31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Cada consulta feita durante o uso fica registrada em data/runtime/consultas.csv, separado do dataset de treino.</a:t>
            </a:r>
          </a:p>
        </p:txBody>
      </p:sp>
    </p:spTree>
    <p:extLst>
      <p:ext uri="{BB962C8B-B14F-4D97-AF65-F5344CB8AC3E}">
        <p14:creationId xmlns:p14="http://schemas.microsoft.com/office/powerpoint/2010/main" val="1020482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C82A9-8943-41BA-B6FB-E2D8B4AC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DE0CE-D61F-48BD-A11B-47733CF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45469-CA74-4864-B8F4-5C738BE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04 / Fluxo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B7A5B-AE67-4E6C-B17B-5B518BE5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FLUXO DA APLICAÇÃO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CE24E-EECD-4C73-82B3-C2A1F25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O sistema evita estimar quando uma regra direta resolve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A11CB-B20D-421A-82AD-E444FBA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 ordem atual reduz respostas estatísticas para perguntas simples do contexto eleitoral.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BC5B0-2135-4B6E-859B-57A8173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6B0E2-0FA3-4B4D-9B8E-8ACBBB5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7BA6-3C7B-4728-9FBB-1A64919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Entrada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C54D0-AD49-4590-8EA9-EB4D94BA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382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Usuário digita uma afirmação ou pergunta no app.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BD901-3F0F-4EC8-8244-61819A2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2D9B8-9858-4F4C-B805-4263D7C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1E263-7FAD-4269-9396-A45E5F1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Regras contextuais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1D7BC-88E3-4789-8110-C8B43CD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440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Perguntas vagas e fatos eleitorais simples podem retornar Inconclusivo, Verdadeiro ou Falso.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117BF-EBAE-48E3-B48B-278DD7C6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D3B7F-6608-43DC-A3C1-126C1309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C6D90-313D-4597-962F-8E6E8D73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Google Fact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B543F-1B9E-48EC-B749-2A47C77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440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Se não houver regra local, o backend busca checagens externas relevantes.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14278-EAF6-444A-A2D8-9E1FFEE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76411-73E5-4506-96E4-9BF10C3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761FD-61AA-438D-90FE-8B769EF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Classificador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413FB-F981-46FD-BD2D-DA13871F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40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Sem checagem confiável, o modelo retorna a melhor estimativa com confiança.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0F328-F3D0-4B88-88A2-4422ADD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36766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47A4D-8321-4D0F-B84C-2853A592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384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Exemplos cobertos por regras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E8B61-4248-4A70-86F8-AD0F04C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- Lula é presidente em 2025?</a:t>
            </a:r>
          </a:p>
          <a:p xmlns:a="http://schemas.openxmlformats.org/drawingml/2006/main">
            <a:pPr algn="l">
              <a:defRPr sz="127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- Voto no Brasil é obrigatório?</a:t>
            </a:r>
          </a:p>
          <a:p xmlns:a="http://schemas.openxmlformats.org/drawingml/2006/main">
            <a:pPr algn="l">
              <a:defRPr sz="127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- A urna é segura?</a:t>
            </a:r>
          </a:p>
          <a:p xmlns:a="http://schemas.openxmlformats.org/drawingml/2006/main">
            <a:pPr algn="l">
              <a:defRPr sz="127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- Bolsonaro vai se candidatar?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12D6D-FDC9-4817-B294-6ADB35CA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3676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DF764-6930-44A1-9625-F33167D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10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Resultado final: resposta no app + registro em CSV de runtime.</a:t>
            </a:r>
          </a:p>
        </p:txBody>
      </p:sp>
    </p:spTree>
    <p:extLst>
      <p:ext uri="{BB962C8B-B14F-4D97-AF65-F5344CB8AC3E}">
        <p14:creationId xmlns:p14="http://schemas.microsoft.com/office/powerpoint/2010/main" val="1349078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62740-FF82-4D7E-9DA9-6A1FF07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C5EFC-7ACB-4D01-BAAB-B1DCC13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ACD45-9152-4205-94DA-24AAF74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05 /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9A4EE-9765-4ECA-85C3-4552B226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977B-2C7C-4193-AE26-8CDE9E7E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A base normalizada prioriza contexto eleitoral brasileiro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639F-1DC6-4C07-BB2F-C1CBA8D4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Coleta inicial via factcheckexplorer, limpeza local e exemplos verdadeiros de apoio institucional.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D6567-EFF2-442A-8CFE-BD6457E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114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17A2F-8A16-435E-87C8-7CA26F9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96689-E115-45A0-A20E-1B7854C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Linhas normalizadas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D8688-9787-4818-BD5E-D35E223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data/processed/dataset_eleicoes.csv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FF8EC-3278-43D6-9AAD-EC645C4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2114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6C4FC-FF4E-4A6A-8726-1E27B10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t>422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20508-B541-47D2-8253-A3BE1C89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Classe FALSO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491AC-2025-4641-9D3D-CDEFD62D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maior parte das checagens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834EE-141C-4147-AA6A-2951476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2114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588D2-1C33-4D20-86EA-CAB933A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955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4DB6C-6493-4D53-944A-12BFA76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27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Classe VERDADEIRO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37165-C7E8-437C-8514-F3A69F5E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apoio para balanceamento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6B78B-72FF-476C-914D-5118492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0099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66438-0F91-4C50-B51C-00B7846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Pipeline de dados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F4BC-A623-467C-8A32-E075E6F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raw/  -&gt;  normalize_dataset.py  -&gt;  processed/</a:t>
            </a:r>
          </a:p>
          <a:p xmlns:a="http://schemas.openxmlformats.org/drawingml/2006/main">
            <a:pPr algn="l">
              <a:defRPr sz="112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consultas do app  -&gt;  runtime/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33B96-3E5A-4066-8D12-0798A0A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O CSV de runtime não contamina a base de treino.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D4CC9-74C6-40EC-84B1-5A935D6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838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EEA08-182E-4042-BC6E-BE29720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7400008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0931D-A231-4ECA-A66F-D48FD51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Distribuição FALSO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23AFA-7F24-4061-92B1-C0A63BA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t>422 / 478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86A09-C36C-4B5D-BEAD-F7C1A18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838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9BFE3-D62C-465F-8235-CA3532E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981992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A885B-409D-4C3E-845F-3CB7025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4355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Distribuição VERDADEIRO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E67646-0029-4F62-B324-34A57FB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435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56 / 478</a:t>
            </a:r>
          </a:p>
        </p:txBody>
      </p:sp>
    </p:spTree>
    <p:extLst>
      <p:ext uri="{BB962C8B-B14F-4D97-AF65-F5344CB8AC3E}">
        <p14:creationId xmlns:p14="http://schemas.microsoft.com/office/powerpoint/2010/main" val="846478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69AD1-A390-4D7D-80D0-4924AA2B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CE4A6-558C-4744-9E35-4D36FA2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8C621-8F4F-456F-A3DA-2520247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06 / Classificador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92425-354B-4333-8055-D3D3DFA5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CLASSIFICADOR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CFADE-5F52-4A4F-90DA-C71AA6E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O fallback estatístico é simples, auditável e reproduzível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BF9D2-8E77-428F-B679-4C53F035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TF-IDF transforma texto em vetor; Logistic Regression aprende o limite entre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B2C2D-5085-4D5C-B0A3-017A62D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D7F88-F232-4A71-A733-17BA16B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Texto da afirmação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37302-D7B2-4A29-AFEF-974CDE8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entrada do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E9D11-5BDF-4FA9-B3AE-EC1F039B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47F73-B603-4530-97C5-7FBF1B2A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A2376-038C-4699-A46C-B74F0C28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241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TF-IDF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5A94A-9F19-4D94-ACFB-DB070C58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unigramas e bigramas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B6ABF-25D9-4806-B8F0-E60C6D1F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194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33531-F9A6-4138-BB6C-97BBA50D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CE4BB-5B48-47E9-A3CB-0358FF6E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Logistic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C3246-A3AF-4F9E-8F77-3390AD28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class_weight balanced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85218-D02A-4467-96AA-69325AE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F9017-0262-49B4-85DF-4931649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DA56E-A19F-4945-A0A9-6F2F2A73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Balanceamento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AC434-89F9-40D0-BD23-3C2813C8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Upsampling da classe minoritária durante o treino reduz o efeito do dataset desigual.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7DAA4-FD5E-42E0-9E2B-D1F5570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88ACD-BA17-4478-9254-7EF471F7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B1653-3AD2-4523-8836-76E6D06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053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Saída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5F407-0E16-47D3-98F8-A308B58B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054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Verdadeiro, Falso ou Inconclusivo, sempre com uma confiança numérica.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EF491-174E-4E99-97F5-F697E0C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B6E81-C0F7-4EAE-BFFE-EFFD561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53826-4A4C-4131-A335-8A0E01DE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053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Limite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B85C5-150E-4405-BE02-55D6C707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054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O resultado local é apoio; a checagem jornalística continua sendo referência.</a:t>
            </a:r>
          </a:p>
        </p:txBody>
      </p:sp>
    </p:spTree>
    <p:extLst>
      <p:ext uri="{BB962C8B-B14F-4D97-AF65-F5344CB8AC3E}">
        <p14:creationId xmlns:p14="http://schemas.microsoft.com/office/powerpoint/2010/main" val="425452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6F0E9-481C-4241-B21F-83E34E4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5E8A5-648E-4E0F-BC63-5D60769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3809-A4C5-4DD8-AB72-40BC121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07 / Métricas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CB38A-D760-4E1C-B379-D9F9FD39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MÉTRICAS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6A134-C8D6-49F9-82D8-4A62C72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Alta acurácia, mas recall da classe verdadeira ainda limita a leitura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CB905-6C59-4F60-A552-BD8BEF66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As métricas são acadêmicas e dependem do tamanho e qualidade do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98C5-DBBF-4A8D-BC8D-26EE1B8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DEDC-BFAC-4A4B-B447-57634BCA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0.9479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9F43F-02A9-4489-8619-9113F04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D6F83-8866-490A-9AAD-DEDDCD6F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validação do último treino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BB9C4-9297-4274-B726-D52D819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FEA77-41DB-43E6-8214-1D4BFB0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1.00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48253-2C4F-4E8C-8137-0F5C007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Precision verdadeira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6B897-0F29-4350-94D9-FE2539B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quando marca verdadeiro, acerta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423D7-81DD-4F50-BA3B-CE1E694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B74CD-A977-45BF-9511-E9B73C53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t>0.55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E108E-F746-43C2-B128-63BCD338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Recall verdadeira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09FF5-6E29-42B7-8B16-2C29121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ainda perde exemplos verdadeiros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AACE5-9545-4600-A0A4-26E915D4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CA0F3-BBB4-4386-906E-4AC99B4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t>0.71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4F18B-6396-462B-A99A-7C357FA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F1 verdadeira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3D33F-A47D-4824-AE26-629F0D2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equilíbrio precision/recall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0E8DC-4CE9-45B8-B0FF-D990333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7239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9A8B1-BCF4-48BF-BB25-EF33C40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6861848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59E1F0-3F5F-4C15-AF10-E08028E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506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Accuracy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323FA-F4C7-407E-8DDB-7BE8B99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94.79%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1B1DF-BEDD-4203-832E-A4FC160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7239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89F10-F47A-4A5B-B8C5-D6DFA6D5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7239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065C4-E3EE-4829-B32D-228408A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06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Precision da classe verdadeira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1F498-EE35-4C90-BBFC-37B1786A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t>100%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F5C3C-4525-461D-A477-74DCF8B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7239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E6"/>
          </a:solidFill>
          <a:ln xmlns:a="http://schemas.openxmlformats.org/drawingml/2006/main" w="0">
            <a:solidFill>
              <a:srgbClr val="E8EE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D70C35-82CD-4D0E-97C0-B70054B9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3981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FF49C-D871-4C43-BA9E-E9604980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506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Recall da classe verdadeira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B831F4-C78C-4904-BD3A-887CC14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t>55%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05BFAC-3023-4E46-8467-DD67D5D8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943100" cy="2076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212A88-4431-4DE9-BD00-D7E6632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814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Leitura correta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D5E83F-E697-4E41-822B-F12E9DA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D1"/>
          </a:solidFill>
          <a:ln xmlns:a="http://schemas.openxmlformats.org/drawingml/2006/main" w="0">
            <a:solidFill>
              <a:srgbClr val="DDF8D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52F"/>
                </a:solidFill>
                <a:latin typeface="Aptos"/>
                <a:ea typeface="Aptos"/>
                <a:cs typeface="Aptos"/>
              </a:defRPr>
            </a:pPr>
            <a:r>
              <a:t>O modelo está forte para evitar falsos verdadeiros, mas precisa de mais exemplos positivos para recuperar melhor a classe verdadeira.</a:t>
            </a:r>
          </a:p>
        </p:txBody>
      </p:sp>
    </p:spTree>
    <p:extLst>
      <p:ext uri="{BB962C8B-B14F-4D97-AF65-F5344CB8AC3E}">
        <p14:creationId xmlns:p14="http://schemas.microsoft.com/office/powerpoint/2010/main" val="85913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2784D-E2CD-4D9B-99E5-A8549D4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D7492-4040-4974-8D83-599A2813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6D403-ADD2-442C-9803-B2F966E6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08 / 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E8084-0DBB-4873-9E12-8B2116F4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D96CC-4AEE-461F-A57E-90959BC8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Um comando prepara backend, modelo e 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544BA-76B0-4720-A882-15185A9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O roteiro de demo reduz erro de porta, dependência e modelo ausente.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8731B-462F-46A0-B26F-D85DC03E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2387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11B"/>
          </a:solidFill>
          <a:ln xmlns:a="http://schemas.openxmlformats.org/drawingml/2006/main" w="0">
            <a:solidFill>
              <a:srgbClr val="1021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9B360-424E-4C53-99A4-A8488E5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B"/>
          </a:solidFill>
          <a:ln xmlns:a="http://schemas.openxmlformats.org/drawingml/2006/main" w="0">
            <a:solidFill>
              <a:srgbClr val="10211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F169"/>
                </a:solidFill>
                <a:latin typeface="Aptos"/>
                <a:ea typeface="Aptos"/>
                <a:cs typeface="Aptos"/>
              </a:defRPr>
            </a:pPr>
            <a:r>
              <a:t>PowerShell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EDF0B-C16D-4DAA-B1DC-B8E7433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B"/>
          </a:solidFill>
          <a:ln xmlns:a="http://schemas.openxmlformats.org/drawingml/2006/main" w="0">
            <a:solidFill>
              <a:srgbClr val="10211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.\iniciar_tudo.ps1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Backend:  http://127.0.0.1:8001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Frontend: http://localhost:8081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D97A7-D22E-43BB-8FA2-C997AFBA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810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0E489-7AAD-45C5-BCCA-4C90D80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D94FA-0F18-4223-B1FC-AE8DB84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7170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Teste 1: checagem externa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8F9EC-2617-4C37-A87C-360A72D1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Usar uma afirmação com resultado já coberto pelo Google Fact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45C75-D3FE-485A-9037-FD3A5113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3810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B9176-5C7B-40D7-9272-58A89F01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D07DB-C3D0-4CD8-B427-F3FA208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Teste 2: regra contextual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BEF2F-0CC4-4DB4-B1EE-A24F63B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Perguntar algo simples como 'Lula é presidente em 2025?'.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CAB5F-1337-4D8E-942F-DFCA26F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810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11A83-D66A-4FC1-BF8F-35E9F153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091D5-3A6D-4428-B719-F72E3A7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0060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Teste 3: classificador 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99D0D-5AF2-4DA7-B98F-A329484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00650"/>
            <a:ext cx="339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Enviar uma afirmação sem regra aplicável e sem checagem externa confiável.</a:t>
            </a:r>
          </a:p>
        </p:txBody>
      </p:sp>
    </p:spTree>
    <p:extLst>
      <p:ext uri="{BB962C8B-B14F-4D97-AF65-F5344CB8AC3E}">
        <p14:creationId xmlns:p14="http://schemas.microsoft.com/office/powerpoint/2010/main" val="1124260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DEE68-0010-4ED5-8DFF-0ABDA399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7"/>
          </a:solidFill>
          <a:ln xmlns:a="http://schemas.openxmlformats.org/drawingml/2006/main" w="0">
            <a:solidFill>
              <a:srgbClr val="D7E1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B4F26-A2B4-4E0A-AB99-8C58702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Factum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B0ACA-5F5C-4817-9633-5A6A9C2F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09 / Conclusão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8ACAB-0D37-4536-A932-41FBEB69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D45"/>
                </a:solidFill>
                <a:latin typeface="Aptos"/>
                <a:ea typeface="Aptos"/>
                <a:cs typeface="Aptos"/>
              </a:defRPr>
            </a:pPr>
            <a: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FB15-401A-476F-9BB3-28B6FC2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A entrega cobre o ciclo completo de verificação assistida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A3DB9-4C91-410F-BF95-C240010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2"/>
          </a:solidFill>
          <a:ln xmlns:a="http://schemas.openxmlformats.org/drawingml/2006/main" w="0">
            <a:solidFill>
              <a:srgbClr val="F7F8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Factum combina interface, API, dataset, treinamento, consulta externa e fallback local.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06AF9-A4E6-4D1A-A6C1-84427C5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E5A99-1B46-42A9-ABB1-A2E657C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5"/>
          </a:solidFill>
          <a:ln xmlns:a="http://schemas.openxmlformats.org/drawingml/2006/main" w="0">
            <a:solidFill>
              <a:srgbClr val="0B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A2412-32DC-4540-BE29-6D3F1133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O que está pronto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899CE-6733-4F58-8719-CE06064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App Expo, API FastAPI, dataset processado, modelo treinado, scripts de execução e documentação.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A5ABF-93BF-4FBE-AB20-5B269F1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1ECD1-437F-4CDF-BE46-5C7104E5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A0F7E-B7E2-41C7-9996-3894918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Como usar com segurança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CDDD0-A647-4B98-B1D2-98D479C3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Regras e classificador são apoio. Fontes externas e revisão humana continuam essenciais.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397AA-099F-4421-8241-EB3DE15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86D20-14AD-48DC-845B-F4D7E3A1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F26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2DE90-56A8-41C9-A1DB-5C0CE65E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t>Próximas melhorias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7AD35-6F34-477C-82F9-18A36FD6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5F"/>
                </a:solidFill>
                <a:latin typeface="Aptos"/>
                <a:ea typeface="Aptos"/>
                <a:cs typeface="Aptos"/>
              </a:defRPr>
            </a:pPr>
            <a:r>
              <a:t>Dataset maior, revisão humana de amostras e avaliação contínua dos resultados.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35EB2-A94E-46A7-9AFD-49AD7E9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9791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50A62-3466-40D3-A2EC-FAB94055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F169"/>
                </a:solidFill>
                <a:latin typeface="Aptos"/>
                <a:ea typeface="Aptos"/>
                <a:cs typeface="Aptos"/>
              </a:defRPr>
            </a:pPr>
            <a:r>
              <a:t>Mensagem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AB97D-37CC-42BB-A473-E0254CC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91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2C"/>
          </a:solidFill>
          <a:ln xmlns:a="http://schemas.openxmlformats.org/drawingml/2006/main" w="0">
            <a:solidFill>
              <a:srgbClr val="073A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 Factum não substitui uma checagem jornalística; ele organiza o primeiro passo da verificação.</a:t>
            </a:r>
          </a:p>
        </p:txBody>
      </p:sp>
    </p:spTree>
    <p:extLst>
      <p:ext uri="{BB962C8B-B14F-4D97-AF65-F5344CB8AC3E}">
        <p14:creationId xmlns:p14="http://schemas.microsoft.com/office/powerpoint/2010/main" val="2118317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2026-06-01T11:34:15.6150000Z</dcterms:created>
  <dcterms:modified xsi:type="dcterms:W3CDTF">2026-06-01T11:34:15.6150000Z</dcterms:modified>
</coreProperties>
</file>