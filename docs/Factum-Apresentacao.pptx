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2030988dee48a3" /><Relationship Type="http://schemas.openxmlformats.org/officeDocument/2006/relationships/extended-properties" Target="/docProps/app.xml" Id="R5284454dcf7d4d00" /><Relationship Type="http://schemas.openxmlformats.org/officeDocument/2006/relationships/officeDocument" Target="/ppt/presentation.xml" Id="R19a8d0fce3274a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6c668109444f5a"/>
  </p:sldMasterIdLst>
  <p:notesMasterIdLst>
    <p:notesMasterId xmlns:r="http://schemas.openxmlformats.org/officeDocument/2006/relationships" r:id="R477260eeef164e55"/>
  </p:notesMasterIdLst>
  <p:sldIdLst>
    <p:sldId xmlns:r="http://schemas.openxmlformats.org/officeDocument/2006/relationships" id="256" r:id="R82f263e1c27741f5"/>
    <p:sldId xmlns:r="http://schemas.openxmlformats.org/officeDocument/2006/relationships" id="257" r:id="R0ac19ca468494c54"/>
    <p:sldId xmlns:r="http://schemas.openxmlformats.org/officeDocument/2006/relationships" id="258" r:id="R869a05d4326c45dd"/>
    <p:sldId xmlns:r="http://schemas.openxmlformats.org/officeDocument/2006/relationships" id="259" r:id="R6d13a2ddc6e64f3a"/>
    <p:sldId xmlns:r="http://schemas.openxmlformats.org/officeDocument/2006/relationships" id="260" r:id="R344bd184ec614c7d"/>
    <p:sldId xmlns:r="http://schemas.openxmlformats.org/officeDocument/2006/relationships" id="261" r:id="Rc52978c39d084080"/>
    <p:sldId xmlns:r="http://schemas.openxmlformats.org/officeDocument/2006/relationships" id="262" r:id="Ra7c9282c26ac4944"/>
    <p:sldId xmlns:r="http://schemas.openxmlformats.org/officeDocument/2006/relationships" id="263" r:id="Rda44b90ffa4b4ebf"/>
    <p:sldId xmlns:r="http://schemas.openxmlformats.org/officeDocument/2006/relationships" id="264" r:id="Rc957215b61f04e62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c668109444f5a" /><Relationship Type="http://schemas.openxmlformats.org/officeDocument/2006/relationships/theme" Target="/ppt/theme/theme1.xml" Id="R9fae3bb532fd49e0" /><Relationship Type="http://schemas.openxmlformats.org/officeDocument/2006/relationships/notesMaster" Target="/ppt/notesMasters/notesMaster1.xml" Id="R477260eeef164e55" /><Relationship Type="http://schemas.openxmlformats.org/officeDocument/2006/relationships/presProps" Target="/ppt/presProps.xml" Id="Rc3f98ef8fa7f4511" /><Relationship Type="http://schemas.openxmlformats.org/officeDocument/2006/relationships/viewProps" Target="/ppt/viewProps.xml" Id="R5c8b66071a7e491b" /><Relationship Type="http://schemas.openxmlformats.org/officeDocument/2006/relationships/tableStyles" Target="/ppt/tableStyles.xml" Id="R8effb881526e4684" /><Relationship Type="http://schemas.openxmlformats.org/officeDocument/2006/relationships/slide" Target="/ppt/slides/slide1.xml" Id="R82f263e1c27741f5" /><Relationship Type="http://schemas.openxmlformats.org/officeDocument/2006/relationships/slide" Target="/ppt/slides/slide2.xml" Id="R0ac19ca468494c54" /><Relationship Type="http://schemas.openxmlformats.org/officeDocument/2006/relationships/slide" Target="/ppt/slides/slide3.xml" Id="R869a05d4326c45dd" /><Relationship Type="http://schemas.openxmlformats.org/officeDocument/2006/relationships/slide" Target="/ppt/slides/slide4.xml" Id="R6d13a2ddc6e64f3a" /><Relationship Type="http://schemas.openxmlformats.org/officeDocument/2006/relationships/slide" Target="/ppt/slides/slide5.xml" Id="R344bd184ec614c7d" /><Relationship Type="http://schemas.openxmlformats.org/officeDocument/2006/relationships/slide" Target="/ppt/slides/slide6.xml" Id="Rc52978c39d084080" /><Relationship Type="http://schemas.openxmlformats.org/officeDocument/2006/relationships/slide" Target="/ppt/slides/slide7.xml" Id="Ra7c9282c26ac4944" /><Relationship Type="http://schemas.openxmlformats.org/officeDocument/2006/relationships/slide" Target="/ppt/slides/slide8.xml" Id="Rda44b90ffa4b4ebf" /><Relationship Type="http://schemas.openxmlformats.org/officeDocument/2006/relationships/slide" Target="/ppt/slides/slide9.xml" Id="Rc957215b61f04e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8b2012926654f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945ab35b814ef9" /><Relationship Type="http://schemas.openxmlformats.org/officeDocument/2006/relationships/notesMaster" Target="/ppt/notesMasters/notesMaster1.xml" Id="R5d25e9249f3540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74d7f0d7d44d00" /><Relationship Type="http://schemas.openxmlformats.org/officeDocument/2006/relationships/notesMaster" Target="/ppt/notesMasters/notesMaster1.xml" Id="Rd86d16e1eb9142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a2a0fa144242e4" /><Relationship Type="http://schemas.openxmlformats.org/officeDocument/2006/relationships/notesMaster" Target="/ppt/notesMasters/notesMaster1.xml" Id="Rbad4f7ec46b74c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e78fb422134c85" /><Relationship Type="http://schemas.openxmlformats.org/officeDocument/2006/relationships/notesMaster" Target="/ppt/notesMasters/notesMaster1.xml" Id="R362f645abed64e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20dc93c9524712" /><Relationship Type="http://schemas.openxmlformats.org/officeDocument/2006/relationships/notesMaster" Target="/ppt/notesMasters/notesMaster1.xml" Id="Rf6f48c1f1b3647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77ff5c58ac4dca" /><Relationship Type="http://schemas.openxmlformats.org/officeDocument/2006/relationships/notesMaster" Target="/ppt/notesMasters/notesMaster1.xml" Id="Rc8d1a52d4f394f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cf110b01334727" /><Relationship Type="http://schemas.openxmlformats.org/officeDocument/2006/relationships/notesMaster" Target="/ppt/notesMasters/notesMaster1.xml" Id="R5ecde2e6163644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7ab8740b554f66" /><Relationship Type="http://schemas.openxmlformats.org/officeDocument/2006/relationships/notesMaster" Target="/ppt/notesMasters/notesMaster1.xml" Id="Rade31e8687b843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f3a39f8e854397" /><Relationship Type="http://schemas.openxmlformats.org/officeDocument/2006/relationships/notesMaster" Target="/ppt/notesMasters/notesMaster1.xml" Id="R722430de142744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5976186e3042f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a8c0f063cca4700" /><Relationship Type="http://schemas.openxmlformats.org/officeDocument/2006/relationships/slideLayout" Target="/ppt/slideLayouts/slideLayout2.xml" Id="Rc487559ddecd4d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87559ddecd4d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a873f3cde045ae" /><Relationship Type="http://schemas.openxmlformats.org/officeDocument/2006/relationships/notesSlide" Target="/ppt/notesSlides/notesSlide1.xml" Id="R8b87096065d240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b7c8296f54404f" /><Relationship Type="http://schemas.openxmlformats.org/officeDocument/2006/relationships/notesSlide" Target="/ppt/notesSlides/notesSlide2.xml" Id="Rdcc56382d12640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a9bb6ae86d4992" /><Relationship Type="http://schemas.openxmlformats.org/officeDocument/2006/relationships/notesSlide" Target="/ppt/notesSlides/notesSlide3.xml" Id="R8edb1c2744e441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e0a0293e73427b" /><Relationship Type="http://schemas.openxmlformats.org/officeDocument/2006/relationships/notesSlide" Target="/ppt/notesSlides/notesSlide4.xml" Id="Rdeab941fb9864f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bdb15021574f76" /><Relationship Type="http://schemas.openxmlformats.org/officeDocument/2006/relationships/chart" Target="/ppt/slides/charts/chart1.xml" Id="Re32dd53bfa694926" /><Relationship Type="http://schemas.openxmlformats.org/officeDocument/2006/relationships/notesSlide" Target="/ppt/notesSlides/notesSlide5.xml" Id="Reb5ac0bb315444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03108ccd22407c" /><Relationship Type="http://schemas.openxmlformats.org/officeDocument/2006/relationships/notesSlide" Target="/ppt/notesSlides/notesSlide6.xml" Id="R734e6b1a804942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a9a70366834553" /><Relationship Type="http://schemas.openxmlformats.org/officeDocument/2006/relationships/notesSlide" Target="/ppt/notesSlides/notesSlide7.xml" Id="Rf002802bc9b74d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a22f2118224fb1" /><Relationship Type="http://schemas.openxmlformats.org/officeDocument/2006/relationships/notesSlide" Target="/ppt/notesSlides/notesSlide8.xml" Id="R55746e1c404f4b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995e1fcf4e4e64" /><Relationship Type="http://schemas.openxmlformats.org/officeDocument/2006/relationships/notesSlide" Target="/ppt/notesSlides/notesSlide9.xml" Id="R10ddfb26cb5d4648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[object Object]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Linhas</c:v>
          </c:tx>
          <c:cat>
            <c:strLit>
              <c:ptCount val="2"/>
              <c:pt idx="0">
                <c:v>FALSO</c:v>
              </c:pt>
              <c:pt idx="1">
                <c:v>VERDADEIRO</c:v>
              </c:pt>
            </c:strLit>
          </c:cat>
          <c:val>
            <c:numLit>
              <c:formatCode/>
              <c:ptCount val="2"/>
              <c:pt idx="0">
                <c:v>451</c:v>
              </c:pt>
              <c:pt idx="1">
                <c:v>56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B8BBAD9F-FAF0-483B-B61C-5A8769B7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45B8337-727B-4E4C-93C4-BC62CA8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4038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3C8D"/>
                </a:solidFill>
              </a:defRPr>
            </a:pPr>
            <a:r>
              <a:rPr sz="2100" b="1">
                <a:solidFill>
                  <a:srgbClr val="113C8D"/>
                </a:solidFill>
              </a:rPr>
              <a:t>Atividade OAT - Inteligencia Artificial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A40B8C8-2425-4B7C-9E65-4C25BAA9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3181350" cy="251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0" b="1">
                <a:solidFill>
                  <a:srgbClr val="132238"/>
                </a:solidFill>
              </a:defRPr>
            </a:pPr>
            <a:r>
              <a:rPr sz="8250" b="1">
                <a:solidFill>
                  <a:srgbClr val="132238"/>
                </a:solidFill>
              </a:rPr>
              <a:t>Factum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9AC2DFA-5522-4B3D-B3D4-0A5BEDC5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38900"/>
            <a:ext cx="7715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5F6F85"/>
                </a:solidFill>
              </a:defRPr>
            </a:pPr>
            <a:r>
              <a:rPr sz="2550">
                <a:solidFill>
                  <a:srgbClr val="5F6F85"/>
                </a:solidFill>
              </a:rPr>
              <a:t>Verificacao de fatos eleitorais com Google Fact Check API e Machine Learning local.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932B786E-14F0-4A55-810A-FB1379C1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0570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cover-artifact">
            <a:extLst xmlns:a="http://schemas.openxmlformats.org/drawingml/2006/main">
              <a:ext uri="{FF2B5EF4-FFF2-40B4-BE49-F238E27FC236}">
                <a16:creationId xmlns:a16="http://schemas.microsoft.com/office/drawing/2014/main" id="{F9CF48E7-E8CA-413A-9469-3303D479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040" y="762000"/>
            <a:ext cx="7528560" cy="8763000"/>
          </a:xfrm>
          <a:prstGeom xmlns:a="http://schemas.openxmlformats.org/drawingml/2006/main" prst="roundRect">
            <a:avLst>
              <a:gd name="adj" fmla="val 430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cover-wordmark">
            <a:extLst xmlns:a="http://schemas.openxmlformats.org/drawingml/2006/main">
              <a:ext uri="{FF2B5EF4-FFF2-40B4-BE49-F238E27FC236}">
                <a16:creationId xmlns:a16="http://schemas.microsoft.com/office/drawing/2014/main" id="{E0F43D73-EC20-43C4-BAE8-2CBAF072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733800"/>
            <a:ext cx="6553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13C8D"/>
                </a:solidFill>
              </a:defRPr>
            </a:pPr>
            <a:r>
              <a:rPr sz="5700" b="1">
                <a:solidFill>
                  <a:srgbClr val="113C8D"/>
                </a:solidFill>
              </a:rPr>
              <a:t>FACTUM</a:t>
            </a:r>
          </a:p>
        </p:txBody>
      </p:sp>
      <p:sp>
        <p:nvSpPr>
          <p:cNvPr id="8" name="cover-dot-1">
            <a:extLst xmlns:a="http://schemas.openxmlformats.org/drawingml/2006/main">
              <a:ext uri="{FF2B5EF4-FFF2-40B4-BE49-F238E27FC236}">
                <a16:creationId xmlns:a16="http://schemas.microsoft.com/office/drawing/2014/main" id="{E0276B49-8FE1-414E-8BDB-88A3E5C3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9149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cover-dot-2">
            <a:extLst xmlns:a="http://schemas.openxmlformats.org/drawingml/2006/main">
              <a:ext uri="{FF2B5EF4-FFF2-40B4-BE49-F238E27FC236}">
                <a16:creationId xmlns:a16="http://schemas.microsoft.com/office/drawing/2014/main" id="{D473D372-EAA4-4CE8-9621-1ABC7347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149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A85B"/>
          </a:solidFill>
        </p:spPr>
      </p:sp>
      <p:sp>
        <p:nvSpPr>
          <p:cNvPr id="10" name="cover-dot-3">
            <a:extLst xmlns:a="http://schemas.openxmlformats.org/drawingml/2006/main">
              <a:ext uri="{FF2B5EF4-FFF2-40B4-BE49-F238E27FC236}">
                <a16:creationId xmlns:a16="http://schemas.microsoft.com/office/drawing/2014/main" id="{A7BE736D-A58C-4F31-B160-41427640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49149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4545"/>
          </a:solidFill>
        </p:spPr>
      </p:sp>
      <p:sp>
        <p:nvSpPr>
          <p:cNvPr id="11" name="cover-stack">
            <a:extLst xmlns:a="http://schemas.openxmlformats.org/drawingml/2006/main">
              <a:ext uri="{FF2B5EF4-FFF2-40B4-BE49-F238E27FC236}">
                <a16:creationId xmlns:a16="http://schemas.microsoft.com/office/drawing/2014/main" id="{D117D487-F5ED-4339-8097-7E76B863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91150"/>
            <a:ext cx="6553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32238"/>
                </a:solidFill>
              </a:defRPr>
            </a:pPr>
            <a:r>
              <a:rPr sz="2250" b="1">
                <a:solidFill>
                  <a:srgbClr val="132238"/>
                </a:solidFill>
              </a:rPr>
              <a:t>Frontend + Backend + API + ML</a:t>
            </a:r>
          </a:p>
        </p:txBody>
      </p:sp>
      <p:sp>
        <p:nvSpPr>
          <p:cNvPr id="12" name="cover-note">
            <a:extLst xmlns:a="http://schemas.openxmlformats.org/drawingml/2006/main">
              <a:ext uri="{FF2B5EF4-FFF2-40B4-BE49-F238E27FC236}">
                <a16:creationId xmlns:a16="http://schemas.microsoft.com/office/drawing/2014/main" id="{757E6C1E-CCB5-490F-B8F2-BA16964F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019800"/>
            <a:ext cx="4991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F6F85"/>
                </a:solidFill>
              </a:defRPr>
            </a:pPr>
            <a:r>
              <a:rPr sz="1725">
                <a:solidFill>
                  <a:srgbClr val="5F6F85"/>
                </a:solidFill>
              </a:rPr>
              <a:t>Fluxo experimental para apoio a analise de informacoes.</a:t>
            </a:r>
          </a:p>
        </p:txBody>
      </p:sp>
    </p:spTree>
    <p:extLst>
      <p:ext uri="{BB962C8B-B14F-4D97-AF65-F5344CB8AC3E}">
        <p14:creationId xmlns:p14="http://schemas.microsoft.com/office/powerpoint/2010/main" val="4504327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5EFC4C0-D538-42CC-AF55-AA35E9F9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C45636ED-0081-4EDF-8C76-6BB1E7B0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914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Problema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9EEA84-D3A8-40B5-8E54-B836039A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71600"/>
            <a:ext cx="116205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Desinformacao eleitoral precisa de verificacao rapida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6E67718-5E67-4F8C-B8C6-92E833BE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93916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A solucao ajuda o usuario a consultar uma afirmacao e receber um retorno organizado.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9D450DA-E239-41A8-A639-32BC0E09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FD908897-325F-4AD1-AE6B-5FC70AC7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7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438A4098-7A34-4217-B865-2C8E56A6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76962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Noticias falsas podem afetar a percepcao publica durante eleicoes.</a:t>
            </a:r>
          </a:p>
        </p:txBody>
      </p:sp>
      <p:sp>
        <p:nvSpPr>
          <p:cNvPr id="8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4C012AB1-FAF8-436A-BB9F-77227EE0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86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EA3E8AF0-82EA-4BAB-AC6F-CCC2F48B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19750"/>
            <a:ext cx="73723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Nem toda afirmacao tem uma checagem pronta na API externa.</a:t>
            </a:r>
          </a:p>
        </p:txBody>
      </p:sp>
      <p:sp>
        <p:nvSpPr>
          <p:cNvPr id="10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1FA90E86-494F-4512-B827-204810A7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10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1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F440C73E-54C5-4A9E-B3C2-9633F5F1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515100"/>
            <a:ext cx="8439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O modelo local entra como apoio quando nao ha verificacao encontrada.</a:t>
            </a:r>
          </a:p>
        </p:txBody>
      </p:sp>
    </p:spTree>
    <p:extLst>
      <p:ext uri="{BB962C8B-B14F-4D97-AF65-F5344CB8AC3E}">
        <p14:creationId xmlns:p14="http://schemas.microsoft.com/office/powerpoint/2010/main" val="150854111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B5D9595-BC99-4BC3-BA0F-D85A2242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1A39DC19-32CB-40D5-A305-2FD15AF6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104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Arquitetura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0221AB-53EC-4D68-AC00-2C2153C2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85850"/>
            <a:ext cx="122301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Quatro componentes trabalhando em sequencia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C3BA96-80A9-4BA4-BFD1-D8CB5743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5867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A implementacao segue o fluxo exigido pela atividade.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C7F3FFDB-9366-4B29-9E63-A87B5A61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stat-React Native / Expo">
            <a:extLst xmlns:a="http://schemas.openxmlformats.org/drawingml/2006/main">
              <a:ext uri="{FF2B5EF4-FFF2-40B4-BE49-F238E27FC236}">
                <a16:creationId xmlns:a16="http://schemas.microsoft.com/office/drawing/2014/main" id="{689C4BAF-E8C7-4F36-B158-C188477C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2432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E8F0FF"/>
          </a:solidFill>
        </p:spPr>
      </p:sp>
      <p:sp>
        <p:nvSpPr>
          <p:cNvPr id="7" name="stat-value-React Native / Expo">
            <a:extLst xmlns:a="http://schemas.openxmlformats.org/drawingml/2006/main">
              <a:ext uri="{FF2B5EF4-FFF2-40B4-BE49-F238E27FC236}">
                <a16:creationId xmlns:a16="http://schemas.microsoft.com/office/drawing/2014/main" id="{ED7DC25C-75AC-4B78-9522-ECAD3C32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3C8D"/>
                </a:solidFill>
              </a:defRPr>
            </a:pPr>
            <a:r>
              <a:rPr sz="4050" b="1">
                <a:solidFill>
                  <a:srgbClr val="113C8D"/>
                </a:solidFill>
              </a:rPr>
              <a:t>Frontend</a:t>
            </a:r>
          </a:p>
        </p:txBody>
      </p:sp>
      <p:sp>
        <p:nvSpPr>
          <p:cNvPr id="8" name="stat-label-React Native / Expo">
            <a:extLst xmlns:a="http://schemas.openxmlformats.org/drawingml/2006/main">
              <a:ext uri="{FF2B5EF4-FFF2-40B4-BE49-F238E27FC236}">
                <a16:creationId xmlns:a16="http://schemas.microsoft.com/office/drawing/2014/main" id="{FCE9FD65-789E-4F74-9671-34CDE539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7685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React Native / Expo</a:t>
            </a:r>
          </a:p>
        </p:txBody>
      </p:sp>
      <p:sp>
        <p:nvSpPr>
          <p:cNvPr id="9" name="stat-FastAPI">
            <a:extLst xmlns:a="http://schemas.openxmlformats.org/drawingml/2006/main">
              <a:ext uri="{FF2B5EF4-FFF2-40B4-BE49-F238E27FC236}">
                <a16:creationId xmlns:a16="http://schemas.microsoft.com/office/drawing/2014/main" id="{89D2A1DF-DDEC-414F-969D-E40F8ABC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538" y="412432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stat-value-FastAPI">
            <a:extLst xmlns:a="http://schemas.openxmlformats.org/drawingml/2006/main">
              <a:ext uri="{FF2B5EF4-FFF2-40B4-BE49-F238E27FC236}">
                <a16:creationId xmlns:a16="http://schemas.microsoft.com/office/drawing/2014/main" id="{154ACB49-F47C-4A5E-B268-C0431A71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3390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32238"/>
                </a:solidFill>
              </a:defRPr>
            </a:pPr>
            <a:r>
              <a:rPr sz="4050" b="1">
                <a:solidFill>
                  <a:srgbClr val="132238"/>
                </a:solidFill>
              </a:rPr>
              <a:t>Backend</a:t>
            </a:r>
          </a:p>
        </p:txBody>
      </p:sp>
      <p:sp>
        <p:nvSpPr>
          <p:cNvPr id="11" name="stat-label-FastAPI">
            <a:extLst xmlns:a="http://schemas.openxmlformats.org/drawingml/2006/main">
              <a:ext uri="{FF2B5EF4-FFF2-40B4-BE49-F238E27FC236}">
                <a16:creationId xmlns:a16="http://schemas.microsoft.com/office/drawing/2014/main" id="{081F48F3-7AB4-42F3-B6FF-1B1C7E20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27685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FastAPI</a:t>
            </a:r>
          </a:p>
        </p:txBody>
      </p:sp>
      <p:sp>
        <p:nvSpPr>
          <p:cNvPr id="12" name="stat-Google Fact Check">
            <a:extLst xmlns:a="http://schemas.openxmlformats.org/drawingml/2006/main">
              <a:ext uri="{FF2B5EF4-FFF2-40B4-BE49-F238E27FC236}">
                <a16:creationId xmlns:a16="http://schemas.microsoft.com/office/drawing/2014/main" id="{F9A44722-879E-47A1-9890-1DD2DD2B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12432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E7F7EE"/>
          </a:solidFill>
        </p:spPr>
      </p:sp>
      <p:sp>
        <p:nvSpPr>
          <p:cNvPr id="13" name="stat-value-Google Fact Check">
            <a:extLst xmlns:a="http://schemas.openxmlformats.org/drawingml/2006/main">
              <a:ext uri="{FF2B5EF4-FFF2-40B4-BE49-F238E27FC236}">
                <a16:creationId xmlns:a16="http://schemas.microsoft.com/office/drawing/2014/main" id="{7B0C06C2-4C5B-4F86-AECC-0D62D0CD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53390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3A85B"/>
                </a:solidFill>
              </a:defRPr>
            </a:pPr>
            <a:r>
              <a:rPr sz="4050" b="1">
                <a:solidFill>
                  <a:srgbClr val="13A85B"/>
                </a:solidFill>
              </a:rPr>
              <a:t>API</a:t>
            </a:r>
          </a:p>
        </p:txBody>
      </p:sp>
      <p:sp>
        <p:nvSpPr>
          <p:cNvPr id="14" name="stat-label-Google Fact Check">
            <a:extLst xmlns:a="http://schemas.openxmlformats.org/drawingml/2006/main">
              <a:ext uri="{FF2B5EF4-FFF2-40B4-BE49-F238E27FC236}">
                <a16:creationId xmlns:a16="http://schemas.microsoft.com/office/drawing/2014/main" id="{A5DA8AC9-F423-44A6-A4E1-3F9356CA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27685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Google Fact Check</a:t>
            </a:r>
          </a:p>
        </p:txBody>
      </p:sp>
      <p:sp>
        <p:nvSpPr>
          <p:cNvPr id="15" name="stat-TF-IDF + Logistic Regression">
            <a:extLst xmlns:a="http://schemas.openxmlformats.org/drawingml/2006/main">
              <a:ext uri="{FF2B5EF4-FFF2-40B4-BE49-F238E27FC236}">
                <a16:creationId xmlns:a16="http://schemas.microsoft.com/office/drawing/2014/main" id="{A6ED625F-AC8F-413A-AC8A-60AC031F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12432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FDECEC"/>
          </a:solidFill>
        </p:spPr>
      </p:sp>
      <p:sp>
        <p:nvSpPr>
          <p:cNvPr id="16" name="stat-value-TF-IDF + Logistic Regression">
            <a:extLst xmlns:a="http://schemas.openxmlformats.org/drawingml/2006/main">
              <a:ext uri="{FF2B5EF4-FFF2-40B4-BE49-F238E27FC236}">
                <a16:creationId xmlns:a16="http://schemas.microsoft.com/office/drawing/2014/main" id="{BE5760A1-3966-4703-9746-01BD1C6F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453390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D64545"/>
                </a:solidFill>
              </a:defRPr>
            </a:pPr>
            <a:r>
              <a:rPr sz="4050" b="1">
                <a:solidFill>
                  <a:srgbClr val="D64545"/>
                </a:solidFill>
              </a:rPr>
              <a:t>ML</a:t>
            </a:r>
          </a:p>
        </p:txBody>
      </p:sp>
      <p:sp>
        <p:nvSpPr>
          <p:cNvPr id="17" name="stat-label-TF-IDF + Logistic Regression">
            <a:extLst xmlns:a="http://schemas.openxmlformats.org/drawingml/2006/main">
              <a:ext uri="{FF2B5EF4-FFF2-40B4-BE49-F238E27FC236}">
                <a16:creationId xmlns:a16="http://schemas.microsoft.com/office/drawing/2014/main" id="{A29A9F11-6765-4672-A4CE-039895E0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27685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TF-IDF +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7817305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12E1C22-1001-4734-9315-0E24ED35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98259D0-CB5D-4438-A68E-473D770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5143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Fluxo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11CB66-0531-454D-A9CF-3854A09B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71600"/>
            <a:ext cx="110680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A API oficial tem prioridade; o ML e fallback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2A66070-14C6-4DDA-B177-F3802283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8229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Isso reduz respostas estimadas quando existe verificacao externa disponivel.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2046F267-1598-4B7A-8ACF-8FB8DD1D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C8535E3E-A720-4473-98DB-09400042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7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97A08997-BFB5-4F89-88B0-7953D500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81450"/>
            <a:ext cx="4533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Usuario envia uma afirmacao pelo app.</a:t>
            </a:r>
          </a:p>
        </p:txBody>
      </p:sp>
      <p:sp>
        <p:nvSpPr>
          <p:cNvPr id="8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009CB88C-C3A4-4512-80BE-4BF01E7B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34AD403F-7FB9-4599-ACB2-125B6EAD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5391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Backend consulta Google Fact Check Tools API.</a:t>
            </a:r>
          </a:p>
        </p:txBody>
      </p:sp>
      <p:sp>
        <p:nvSpPr>
          <p:cNvPr id="10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D2183605-F898-4B3F-9508-570BD9C7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1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6BC3D039-9B2D-4C38-919A-D98958AA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0"/>
            <a:ext cx="69342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Com verificacao: retorna resultado oficial e salva a consulta.</a:t>
            </a:r>
          </a:p>
        </p:txBody>
      </p:sp>
      <p:sp>
        <p:nvSpPr>
          <p:cNvPr id="12" name="bullet-dot-4">
            <a:extLst xmlns:a="http://schemas.openxmlformats.org/drawingml/2006/main">
              <a:ext uri="{FF2B5EF4-FFF2-40B4-BE49-F238E27FC236}">
                <a16:creationId xmlns:a16="http://schemas.microsoft.com/office/drawing/2014/main" id="{D6836DD9-8C86-4C55-B314-255F612A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484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3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7906DCA6-F5A0-4720-B004-36740DF3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81700"/>
            <a:ext cx="7086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Sem verificacao: executa o modelo local e retorna estimativa.</a:t>
            </a:r>
          </a:p>
        </p:txBody>
      </p:sp>
    </p:spTree>
    <p:extLst>
      <p:ext uri="{BB962C8B-B14F-4D97-AF65-F5344CB8AC3E}">
        <p14:creationId xmlns:p14="http://schemas.microsoft.com/office/powerpoint/2010/main" val="18067062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1F82211-3C52-49C9-BCCC-5E937401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072F692-4ABB-426B-91F3-0F2F620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723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Dataset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9CDC2B-FFE1-4307-8E09-60142E24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85850"/>
            <a:ext cx="116014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Coleta inicial com factcheckexplorer e limpeza local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4D133E-E685-4C03-B226-9C6B6FDD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629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O dataset processado foi regenerado sem conflitos de merge.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5589D48A-5E42-4E16-8C9F-863C912B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graphicFrame>
        <p:nvGraphicFramePr>
          <p:cNvPr id="6" name="dataset-chart"/>
          <p:cNvGraphicFramePr/>
          <p:nvPr/>
        </p:nvGraphicFramePr>
        <p:xfrm>
          <a:off xmlns:a="http://schemas.openxmlformats.org/drawingml/2006/main" x="876300" y="4444365"/>
          <a:ext xmlns:a="http://schemas.openxmlformats.org/drawingml/2006/main" cx="723519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2dd53bfa694926"/>
          </a:graphicData>
        </a:graphic>
      </p:graphicFrame>
      <p:sp>
        <p:nvSpPr>
          <p:cNvPr id="7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CEE67396-262D-4025-A761-B0A5F206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05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93F762E0-81FC-49EC-A2E1-C4267867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38650"/>
            <a:ext cx="2857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507 linhas normalizadas.</a:t>
            </a:r>
          </a:p>
        </p:txBody>
      </p:sp>
      <p:sp>
        <p:nvSpPr>
          <p:cNvPr id="9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2058D979-9853-4848-A2C9-A9CD376F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00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989116EA-60F3-4603-8F8F-AC8C05EA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34000"/>
            <a:ext cx="2457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451 exemplos FALSO.</a:t>
            </a:r>
          </a:p>
        </p:txBody>
      </p:sp>
      <p:sp>
        <p:nvSpPr>
          <p:cNvPr id="11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0AB4714B-060C-49A0-8F9B-489998B6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324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EFEB6506-EA90-4874-AA03-0E840C7F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6229350"/>
            <a:ext cx="3105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56 exemplos VERDADEIRO.</a:t>
            </a:r>
          </a:p>
        </p:txBody>
      </p:sp>
      <p:sp>
        <p:nvSpPr>
          <p:cNvPr id="13" name="bullet-dot-4">
            <a:extLst xmlns:a="http://schemas.openxmlformats.org/drawingml/2006/main">
              <a:ext uri="{FF2B5EF4-FFF2-40B4-BE49-F238E27FC236}">
                <a16:creationId xmlns:a16="http://schemas.microsoft.com/office/drawing/2014/main" id="{39E80EC7-FFAE-4683-9BD1-DEDB1F4D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7048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F073DD99-64FC-4E7A-801F-05A0497A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6781800"/>
            <a:ext cx="6400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Consultas do app ficam em data/runtime/consultas.csv.</a:t>
            </a:r>
          </a:p>
        </p:txBody>
      </p:sp>
    </p:spTree>
    <p:extLst>
      <p:ext uri="{BB962C8B-B14F-4D97-AF65-F5344CB8AC3E}">
        <p14:creationId xmlns:p14="http://schemas.microsoft.com/office/powerpoint/2010/main" val="175215701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30DB9DF-9034-4689-88B3-AFACCCAC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711A1C2-E373-41B9-9FB5-2B0E0BA3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Machine Learning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ACA4EC-8B83-4B24-920D-9753ADC6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71600"/>
            <a:ext cx="122110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Texto vira vetor; o classificador aprende padroes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63CA231-7EA8-4CCE-8EDE-D4A1486D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7181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O treino usa balanceamento por upsampling na classe minoritaria.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738FD115-DB3D-4BEB-BE53-C1BD43FE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3E62FB18-5ED3-4576-A533-56560C9D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7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50CDF142-C5F9-44DB-BF90-46D5980A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00550"/>
            <a:ext cx="582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Vetorizacao com TF-IDF em unigramas e bigramas.</a:t>
            </a:r>
          </a:p>
        </p:txBody>
      </p:sp>
      <p:sp>
        <p:nvSpPr>
          <p:cNvPr id="8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124EC06B-9B4C-4DD7-9051-C0096AD5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52EEAFD3-5574-4C24-B888-0BD3DC0F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53000"/>
            <a:ext cx="676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Algoritmo: Logistic Regression com class_weight balanced.</a:t>
            </a:r>
          </a:p>
        </p:txBody>
      </p:sp>
      <p:sp>
        <p:nvSpPr>
          <p:cNvPr id="10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13EB0163-69B6-4945-A622-BF860401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1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76AD5DC4-3AE2-484C-B479-FD96A541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48350"/>
            <a:ext cx="7905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Saida: Verdadeiro, Falso ou Inconclusivo quando a confianca e baixa.</a:t>
            </a:r>
          </a:p>
        </p:txBody>
      </p:sp>
    </p:spTree>
    <p:extLst>
      <p:ext uri="{BB962C8B-B14F-4D97-AF65-F5344CB8AC3E}">
        <p14:creationId xmlns:p14="http://schemas.microsoft.com/office/powerpoint/2010/main" val="13282919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0011429-1DD1-486C-A452-30AECEF9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AD90DB3-A631-4DFE-B614-DAD63847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819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Metricas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C010D9-1A2B-402A-88D8-FC21584A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71600"/>
            <a:ext cx="103441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O modelo melhorou na classe verdadeira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73208FE-87B0-4FEF-AA2D-982275DB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840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As metricas sao de validacao academica e dependem diretamente do dataset.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D1ECD5F-E921-4767-923B-C2458427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stat-Accuracy">
            <a:extLst xmlns:a="http://schemas.openxmlformats.org/drawingml/2006/main">
              <a:ext uri="{FF2B5EF4-FFF2-40B4-BE49-F238E27FC236}">
                <a16:creationId xmlns:a16="http://schemas.microsoft.com/office/drawing/2014/main" id="{8C166182-727B-4DAB-AF19-ADB902EE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1868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stat-value-Accuracy">
            <a:extLst xmlns:a="http://schemas.openxmlformats.org/drawingml/2006/main">
              <a:ext uri="{FF2B5EF4-FFF2-40B4-BE49-F238E27FC236}">
                <a16:creationId xmlns:a16="http://schemas.microsoft.com/office/drawing/2014/main" id="{8F34F59F-D632-4D61-85A0-7DBC58F3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2445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3C8D"/>
                </a:solidFill>
              </a:defRPr>
            </a:pPr>
            <a:r>
              <a:rPr sz="4050" b="1">
                <a:solidFill>
                  <a:srgbClr val="113C8D"/>
                </a:solidFill>
              </a:rPr>
              <a:t>0.9804</a:t>
            </a:r>
          </a:p>
        </p:txBody>
      </p:sp>
      <p:sp>
        <p:nvSpPr>
          <p:cNvPr id="8" name="stat-label-Accuracy">
            <a:extLst xmlns:a="http://schemas.openxmlformats.org/drawingml/2006/main">
              <a:ext uri="{FF2B5EF4-FFF2-40B4-BE49-F238E27FC236}">
                <a16:creationId xmlns:a16="http://schemas.microsoft.com/office/drawing/2014/main" id="{B4FD855B-97BE-4631-A5ED-BB45D516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6740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Accuracy</a:t>
            </a:r>
          </a:p>
        </p:txBody>
      </p:sp>
      <p:sp>
        <p:nvSpPr>
          <p:cNvPr id="9" name="stat-Precision V">
            <a:extLst xmlns:a="http://schemas.openxmlformats.org/drawingml/2006/main">
              <a:ext uri="{FF2B5EF4-FFF2-40B4-BE49-F238E27FC236}">
                <a16:creationId xmlns:a16="http://schemas.microsoft.com/office/drawing/2014/main" id="{7EEE16C1-5CEE-484A-8767-E45FF1BF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2538" y="471868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E7F7EE"/>
          </a:solidFill>
        </p:spPr>
      </p:sp>
      <p:sp>
        <p:nvSpPr>
          <p:cNvPr id="10" name="stat-value-Precision V">
            <a:extLst xmlns:a="http://schemas.openxmlformats.org/drawingml/2006/main">
              <a:ext uri="{FF2B5EF4-FFF2-40B4-BE49-F238E27FC236}">
                <a16:creationId xmlns:a16="http://schemas.microsoft.com/office/drawing/2014/main" id="{1F358477-2902-433B-9585-2C34675A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12445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3A85B"/>
                </a:solidFill>
              </a:defRPr>
            </a:pPr>
            <a:r>
              <a:rPr sz="4050" b="1">
                <a:solidFill>
                  <a:srgbClr val="13A85B"/>
                </a:solidFill>
              </a:rPr>
              <a:t>1.00</a:t>
            </a:r>
          </a:p>
        </p:txBody>
      </p:sp>
      <p:sp>
        <p:nvSpPr>
          <p:cNvPr id="11" name="stat-label-Precision V">
            <a:extLst xmlns:a="http://schemas.openxmlformats.org/drawingml/2006/main">
              <a:ext uri="{FF2B5EF4-FFF2-40B4-BE49-F238E27FC236}">
                <a16:creationId xmlns:a16="http://schemas.microsoft.com/office/drawing/2014/main" id="{DBB80D2D-8A4D-4C11-9955-70944462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6740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Precision V</a:t>
            </a:r>
          </a:p>
        </p:txBody>
      </p:sp>
      <p:sp>
        <p:nvSpPr>
          <p:cNvPr id="12" name="stat-Recall V">
            <a:extLst xmlns:a="http://schemas.openxmlformats.org/drawingml/2006/main">
              <a:ext uri="{FF2B5EF4-FFF2-40B4-BE49-F238E27FC236}">
                <a16:creationId xmlns:a16="http://schemas.microsoft.com/office/drawing/2014/main" id="{1D11CF32-57F6-471B-90CB-B1DEFA35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71868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E8F0FF"/>
          </a:solidFill>
        </p:spPr>
      </p:sp>
      <p:sp>
        <p:nvSpPr>
          <p:cNvPr id="13" name="stat-value-Recall V">
            <a:extLst xmlns:a="http://schemas.openxmlformats.org/drawingml/2006/main">
              <a:ext uri="{FF2B5EF4-FFF2-40B4-BE49-F238E27FC236}">
                <a16:creationId xmlns:a16="http://schemas.microsoft.com/office/drawing/2014/main" id="{D0837787-28D0-42AE-9FB4-AC6B5B00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12445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3C8D"/>
                </a:solidFill>
              </a:defRPr>
            </a:pPr>
            <a:r>
              <a:rPr sz="4050" b="1">
                <a:solidFill>
                  <a:srgbClr val="113C8D"/>
                </a:solidFill>
              </a:rPr>
              <a:t>0.82</a:t>
            </a:r>
          </a:p>
        </p:txBody>
      </p:sp>
      <p:sp>
        <p:nvSpPr>
          <p:cNvPr id="14" name="stat-label-Recall V">
            <a:extLst xmlns:a="http://schemas.openxmlformats.org/drawingml/2006/main">
              <a:ext uri="{FF2B5EF4-FFF2-40B4-BE49-F238E27FC236}">
                <a16:creationId xmlns:a16="http://schemas.microsoft.com/office/drawing/2014/main" id="{3392F69F-3E88-41BC-BBDC-5F957E14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6740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Recall V</a:t>
            </a:r>
          </a:p>
        </p:txBody>
      </p:sp>
      <p:sp>
        <p:nvSpPr>
          <p:cNvPr id="15" name="stat-F1-score V">
            <a:extLst xmlns:a="http://schemas.openxmlformats.org/drawingml/2006/main">
              <a:ext uri="{FF2B5EF4-FFF2-40B4-BE49-F238E27FC236}">
                <a16:creationId xmlns:a16="http://schemas.microsoft.com/office/drawing/2014/main" id="{EFA931E0-FF7E-421F-B560-73F3C774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718685"/>
            <a:ext cx="3976688" cy="1809750"/>
          </a:xfrm>
          <a:prstGeom xmlns:a="http://schemas.openxmlformats.org/drawingml/2006/main" prst="roundRect">
            <a:avLst>
              <a:gd name="adj" fmla="val 13684"/>
            </a:avLst>
          </a:prstGeom>
          <a:solidFill xmlns:a="http://schemas.openxmlformats.org/drawingml/2006/main">
            <a:srgbClr val="FDECEC"/>
          </a:solidFill>
        </p:spPr>
      </p:sp>
      <p:sp>
        <p:nvSpPr>
          <p:cNvPr id="16" name="stat-value-F1-score V">
            <a:extLst xmlns:a="http://schemas.openxmlformats.org/drawingml/2006/main">
              <a:ext uri="{FF2B5EF4-FFF2-40B4-BE49-F238E27FC236}">
                <a16:creationId xmlns:a16="http://schemas.microsoft.com/office/drawing/2014/main" id="{AD5725B0-06F8-46ED-887C-6D1BBA04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124450"/>
            <a:ext cx="34099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D64545"/>
                </a:solidFill>
              </a:defRPr>
            </a:pPr>
            <a:r>
              <a:rPr sz="4050" b="1">
                <a:solidFill>
                  <a:srgbClr val="D64545"/>
                </a:solidFill>
              </a:rPr>
              <a:t>0.90</a:t>
            </a:r>
          </a:p>
        </p:txBody>
      </p:sp>
      <p:sp>
        <p:nvSpPr>
          <p:cNvPr id="17" name="stat-label-F1-score V">
            <a:extLst xmlns:a="http://schemas.openxmlformats.org/drawingml/2006/main">
              <a:ext uri="{FF2B5EF4-FFF2-40B4-BE49-F238E27FC236}">
                <a16:creationId xmlns:a16="http://schemas.microsoft.com/office/drawing/2014/main" id="{B03B50C9-AD9E-4C54-83EA-F9DD7E6E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867400"/>
            <a:ext cx="3409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F85"/>
                </a:solidFill>
              </a:defRPr>
            </a:pPr>
            <a:r>
              <a:rPr sz="1650">
                <a:solidFill>
                  <a:srgbClr val="5F6F85"/>
                </a:solidFill>
              </a:rPr>
              <a:t>F1-score V</a:t>
            </a:r>
          </a:p>
        </p:txBody>
      </p:sp>
    </p:spTree>
    <p:extLst>
      <p:ext uri="{BB962C8B-B14F-4D97-AF65-F5344CB8AC3E}">
        <p14:creationId xmlns:p14="http://schemas.microsoft.com/office/powerpoint/2010/main" val="5587192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E892DC7-54D7-49F1-B227-D00C1DA3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F8BB9E1-B663-44D2-8859-84AEF06F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1371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Demonstracao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C2BD81-3ACC-4605-BAC9-D67383E8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85850"/>
            <a:ext cx="121920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Um comando inicia o ambiente da apresentacao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6FDC155-4308-4AE5-A4D4-B9C82939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3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O objetivo e reduzir erro de porta, dependencia e modelo ausente.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F407F19D-B3F5-48E5-AEBC-4FCCB267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A2CD8350-BF2F-4708-8121-4D052070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7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3FC18494-F8AA-4EEF-883F-F44FCDC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4972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Rodar ./iniciar_tudo.ps1 na raiz do projeto.</a:t>
            </a:r>
          </a:p>
        </p:txBody>
      </p:sp>
      <p:sp>
        <p:nvSpPr>
          <p:cNvPr id="8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B39DC3E2-3918-4B9D-8E27-6BACC7DF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99EC0DF9-F11B-4989-8706-BC6EF572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4914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Abrir o frontend em http://localhost:8081.</a:t>
            </a:r>
          </a:p>
        </p:txBody>
      </p:sp>
      <p:sp>
        <p:nvSpPr>
          <p:cNvPr id="10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C5DA5796-7DDD-4F9D-8EFC-580F06B5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81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1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92E1EFEF-94B8-4987-883F-8021425F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8645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Testar uma afirmacao ja checada pela API.</a:t>
            </a:r>
          </a:p>
        </p:txBody>
      </p:sp>
      <p:sp>
        <p:nvSpPr>
          <p:cNvPr id="12" name="bullet-dot-4">
            <a:extLst xmlns:a="http://schemas.openxmlformats.org/drawingml/2006/main">
              <a:ext uri="{FF2B5EF4-FFF2-40B4-BE49-F238E27FC236}">
                <a16:creationId xmlns:a16="http://schemas.microsoft.com/office/drawing/2014/main" id="{6D5DFA39-9420-43AC-89DF-FA4729D8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05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3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53371068-F4CE-44D9-A5FD-40772EDA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438900"/>
            <a:ext cx="71818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Testar uma afirmacao sem retorno externo para acionar o ML.</a:t>
            </a:r>
          </a:p>
        </p:txBody>
      </p:sp>
    </p:spTree>
    <p:extLst>
      <p:ext uri="{BB962C8B-B14F-4D97-AF65-F5344CB8AC3E}">
        <p14:creationId xmlns:p14="http://schemas.microsoft.com/office/powerpoint/2010/main" val="8616931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E886295-BBB0-41F1-B4D9-D36C2219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C0B6D90-87EC-48C0-8F3C-741B600C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"/>
            <a:ext cx="971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3C8D"/>
                </a:solidFill>
              </a:defRPr>
            </a:pPr>
            <a:r>
              <a:rPr sz="1800" b="1">
                <a:solidFill>
                  <a:srgbClr val="113C8D"/>
                </a:solidFill>
              </a:rPr>
              <a:t>Conclusao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6226C5-33DE-4FD2-86E1-33906E21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85850"/>
            <a:ext cx="112585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32238"/>
                </a:solidFill>
              </a:defRPr>
            </a:pPr>
            <a:r>
              <a:rPr sz="4800" b="1">
                <a:solidFill>
                  <a:srgbClr val="132238"/>
                </a:solidFill>
              </a:rPr>
              <a:t>A entrega cobre os componentes exigidos na OAT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BD76A05-18B4-4D84-9F92-7423DC23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600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F6F85"/>
                </a:solidFill>
              </a:defRPr>
            </a:pPr>
            <a:r>
              <a:rPr sz="2100">
                <a:solidFill>
                  <a:srgbClr val="5F6F85"/>
                </a:solidFill>
              </a:rPr>
              <a:t>O projeto esta pronto para demonstracao local e para evolucao futura.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48DECDF4-B6C0-4D88-94BB-B7D2E710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6" name="bullet-dot-1">
            <a:extLst xmlns:a="http://schemas.openxmlformats.org/drawingml/2006/main">
              <a:ext uri="{FF2B5EF4-FFF2-40B4-BE49-F238E27FC236}">
                <a16:creationId xmlns:a16="http://schemas.microsoft.com/office/drawing/2014/main" id="{74E3C238-7938-4788-8FC2-05C30B0C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7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80276415-FFEC-4E65-81EB-AD38B889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33850"/>
            <a:ext cx="90297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Codigo fonte, dataset, modelo treinado e documentacao estao no repositorio.</a:t>
            </a:r>
          </a:p>
        </p:txBody>
      </p:sp>
      <p:sp>
        <p:nvSpPr>
          <p:cNvPr id="8" name="bullet-dot-2">
            <a:extLst xmlns:a="http://schemas.openxmlformats.org/drawingml/2006/main">
              <a:ext uri="{FF2B5EF4-FFF2-40B4-BE49-F238E27FC236}">
                <a16:creationId xmlns:a16="http://schemas.microsoft.com/office/drawing/2014/main" id="{E0B81080-E4CD-4C7D-BB73-D4D78BD6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9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5CF31BE1-A610-44F8-A51F-D9801D8B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8724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A aplicacao salva consultas localmente sem contaminar o dataset de treino.</a:t>
            </a:r>
          </a:p>
        </p:txBody>
      </p:sp>
      <p:sp>
        <p:nvSpPr>
          <p:cNvPr id="10" name="bullet-dot-3">
            <a:extLst xmlns:a="http://schemas.openxmlformats.org/drawingml/2006/main">
              <a:ext uri="{FF2B5EF4-FFF2-40B4-BE49-F238E27FC236}">
                <a16:creationId xmlns:a16="http://schemas.microsoft.com/office/drawing/2014/main" id="{AFBD68F8-93AC-4303-8958-047863A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</p:spPr>
      </p:sp>
      <p:sp>
        <p:nvSpPr>
          <p:cNvPr id="11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31B696CA-8699-4884-A9AD-56744484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38750"/>
            <a:ext cx="8782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132238"/>
                </a:solidFill>
              </a:defRPr>
            </a:pPr>
            <a:r>
              <a:rPr sz="2250">
                <a:solidFill>
                  <a:srgbClr val="132238"/>
                </a:solidFill>
              </a:rPr>
              <a:t>Melhorias futuras: dataset maior, revisao humana e modelos mais robustos.</a:t>
            </a:r>
          </a:p>
        </p:txBody>
      </p:sp>
    </p:spTree>
    <p:extLst>
      <p:ext uri="{BB962C8B-B14F-4D97-AF65-F5344CB8AC3E}">
        <p14:creationId xmlns:p14="http://schemas.microsoft.com/office/powerpoint/2010/main" val="19368693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2026-04-28T03:20:44.7690000Z</dcterms:created>
  <dcterms:modified xsi:type="dcterms:W3CDTF">2026-04-28T03:20:44.7690000Z</dcterms:modified>
</coreProperties>
</file>